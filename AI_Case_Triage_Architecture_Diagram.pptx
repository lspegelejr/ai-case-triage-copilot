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61838" cy="9601200"/>
  <p:notesSz cx="96012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2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2515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Case Triage &amp; Dispatch Copilot — System Architecture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709160" y="640080"/>
            <a:ext cx="2743200" cy="1051560"/>
          </a:xfrm>
          <a:prstGeom prst="cloud">
            <a:avLst/>
          </a:prstGeom>
          <a:solidFill>
            <a:srgbClr val="FCEEE8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09160" y="703174"/>
            <a:ext cx="2743200" cy="5257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API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36592" y="1186891"/>
            <a:ext cx="2688336" cy="4837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reasoning via tool-use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71500" y="2286000"/>
            <a:ext cx="1691640" cy="1234440"/>
          </a:xfrm>
          <a:prstGeom prst="rect">
            <a:avLst/>
          </a:prstGeom>
          <a:solidFill>
            <a:srgbClr val="F4F0F9"/>
          </a:solidFill>
          <a:ln w="254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1500" y="2360066"/>
            <a:ext cx="1691640" cy="6172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Tickets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8932" y="2927909"/>
            <a:ext cx="1636776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Simulates a person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submitting a ticket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03220" y="2286000"/>
            <a:ext cx="1691640" cy="1234440"/>
          </a:xfrm>
          <a:prstGeom prst="rect">
            <a:avLst/>
          </a:prstGeom>
          <a:solidFill>
            <a:srgbClr val="F4F0F9"/>
          </a:solidFill>
          <a:ln w="254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03220" y="2360066"/>
            <a:ext cx="1691640" cy="6172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30652" y="2927909"/>
            <a:ext cx="1636776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Assesses urgency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category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234940" y="2286000"/>
            <a:ext cx="1691640" cy="1234440"/>
          </a:xfrm>
          <a:prstGeom prst="rect">
            <a:avLst/>
          </a:prstGeom>
          <a:solidFill>
            <a:srgbClr val="F4F0F9"/>
          </a:solidFill>
          <a:ln w="254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34940" y="2360066"/>
            <a:ext cx="1691640" cy="6172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62372" y="2927909"/>
            <a:ext cx="1636776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Proposes likely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566660" y="2286000"/>
            <a:ext cx="1691640" cy="1234440"/>
          </a:xfrm>
          <a:prstGeom prst="rect">
            <a:avLst/>
          </a:prstGeom>
          <a:solidFill>
            <a:srgbClr val="F4F0F9"/>
          </a:solidFill>
          <a:ln w="254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66660" y="2360066"/>
            <a:ext cx="1691640" cy="6172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94092" y="2927909"/>
            <a:ext cx="1636776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active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898380" y="2286000"/>
            <a:ext cx="1691640" cy="1234440"/>
          </a:xfrm>
          <a:prstGeom prst="rect">
            <a:avLst/>
          </a:prstGeom>
          <a:solidFill>
            <a:srgbClr val="F4F0F9"/>
          </a:solidFill>
          <a:ln w="254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898380" y="2360066"/>
            <a:ext cx="1691640" cy="6172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925812" y="2927909"/>
            <a:ext cx="1636776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technician,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Work Order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263140" y="2903220"/>
            <a:ext cx="640080" cy="9144"/>
          </a:xfrm>
          <a:prstGeom prst="line">
            <a:avLst/>
          </a:prstGeom>
          <a:noFill/>
          <a:ln w="22225">
            <a:solidFill>
              <a:srgbClr val="5555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63140" y="2619756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ticket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94860" y="2903220"/>
            <a:ext cx="640080" cy="9144"/>
          </a:xfrm>
          <a:prstGeom prst="line">
            <a:avLst/>
          </a:prstGeom>
          <a:noFill/>
          <a:ln w="22225">
            <a:solidFill>
              <a:srgbClr val="5555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17720" y="2578014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+urgency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926580" y="2903220"/>
            <a:ext cx="640080" cy="9144"/>
          </a:xfrm>
          <a:prstGeom prst="line">
            <a:avLst/>
          </a:prstGeom>
          <a:noFill/>
          <a:ln w="22225">
            <a:solidFill>
              <a:srgbClr val="5555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70722" y="2558034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+urgency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+cause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9258300" y="2903220"/>
            <a:ext cx="640080" cy="9144"/>
          </a:xfrm>
          <a:prstGeom prst="line">
            <a:avLst/>
          </a:prstGeom>
          <a:noFill/>
          <a:ln w="22225">
            <a:solidFill>
              <a:srgbClr val="5555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281160" y="2443734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+urgency+cause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safety flag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 flipV="1">
            <a:off x="6080760" y="1691640"/>
            <a:ext cx="9144" cy="594360"/>
          </a:xfrm>
          <a:prstGeom prst="line">
            <a:avLst/>
          </a:prstGeom>
          <a:noFill/>
          <a:ln w="22225">
            <a:solidFill>
              <a:srgbClr val="5555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80560" y="4251960"/>
            <a:ext cx="3291840" cy="1234440"/>
          </a:xfrm>
          <a:prstGeom prst="can">
            <a:avLst/>
          </a:prstGeom>
          <a:solidFill>
            <a:srgbClr val="E6F6FD"/>
          </a:solidFill>
          <a:ln w="2540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80560" y="4326026"/>
            <a:ext cx="3291840" cy="6172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(Developer Edition)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07992" y="4893869"/>
            <a:ext cx="3236976" cy="5678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· Asset · Work Order data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 real data lives here)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418320" y="397682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Creates Work Order</a:t>
            </a:r>
            <a:endParaRPr lang="en-US" sz="750" b="1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-WO Key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-Assigned Tech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-Case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-Status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-Priority</a:t>
            </a:r>
          </a:p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</a:t>
            </a:r>
            <a:r>
              <a:rPr lang="en-US" sz="750" dirty="0" err="1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AssetID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297680" y="5989320"/>
            <a:ext cx="3657600" cy="105156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97680" y="6052414"/>
            <a:ext cx="3657600" cy="5257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325112" y="6536131"/>
            <a:ext cx="3602736" cy="4837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queue, filters, reasoning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(read-only)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26480" y="5486400"/>
            <a:ext cx="9144" cy="502920"/>
          </a:xfrm>
          <a:prstGeom prst="line">
            <a:avLst/>
          </a:prstGeom>
          <a:noFill/>
          <a:ln w="22225">
            <a:solidFill>
              <a:srgbClr val="5555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810416" y="55732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(SOQL,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503920" y="6035040"/>
            <a:ext cx="2377440" cy="914400"/>
          </a:xfrm>
          <a:prstGeom prst="cloud">
            <a:avLst/>
          </a:prstGeom>
          <a:solidFill>
            <a:srgbClr val="EAFAF1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03920" y="608990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31352" y="6510528"/>
            <a:ext cx="232257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Deploys the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on push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 flipH="1">
            <a:off x="7955280" y="6492240"/>
            <a:ext cx="548640" cy="9144"/>
          </a:xfrm>
          <a:prstGeom prst="line">
            <a:avLst/>
          </a:prstGeom>
          <a:noFill/>
          <a:ln w="22225">
            <a:solidFill>
              <a:srgbClr val="5555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0" descr="person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7543800"/>
            <a:ext cx="640080" cy="640080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4754880" y="8229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 / Interviewer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(Web Browser)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6126480" y="7040880"/>
            <a:ext cx="9144" cy="502920"/>
          </a:xfrm>
          <a:prstGeom prst="line">
            <a:avLst/>
          </a:prstGeom>
          <a:noFill/>
          <a:ln w="22225">
            <a:solidFill>
              <a:srgbClr val="55555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5942407" y="714603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365760" y="5852160"/>
            <a:ext cx="3566160" cy="3383280"/>
          </a:xfrm>
          <a:prstGeom prst="rect">
            <a:avLst/>
          </a:prstGeom>
          <a:ln w="15875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502920" y="5943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DevOps deployment pipeline —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part of the live runtime flow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548640" y="6629400"/>
            <a:ext cx="1463040" cy="1005840"/>
          </a:xfrm>
          <a:prstGeom prst="rect">
            <a:avLst/>
          </a:prstGeom>
          <a:solidFill>
            <a:srgbClr val="EAFAF1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548640" y="668975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Copado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Essentials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76072" y="7152437"/>
            <a:ext cx="1408176" cy="462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2423160" y="6629400"/>
            <a:ext cx="1371600" cy="1005840"/>
          </a:xfrm>
          <a:prstGeom prst="can">
            <a:avLst/>
          </a:prstGeom>
          <a:solidFill>
            <a:srgbClr val="E6F6FD"/>
          </a:solidFill>
          <a:ln w="25400">
            <a:solidFill>
              <a:srgbClr val="00A1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2423160" y="668975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2450592" y="7152437"/>
            <a:ext cx="1316736" cy="462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 flipH="1">
            <a:off x="1280160" y="5486400"/>
            <a:ext cx="3200400" cy="1143000"/>
          </a:xfrm>
          <a:prstGeom prst="line">
            <a:avLst/>
          </a:prstGeom>
          <a:noFill/>
          <a:ln w="22225">
            <a:solidFill>
              <a:srgbClr val="5555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2011680" y="7132320"/>
            <a:ext cx="411480" cy="9144"/>
          </a:xfrm>
          <a:prstGeom prst="line">
            <a:avLst/>
          </a:prstGeom>
          <a:noFill/>
          <a:ln w="22225">
            <a:solidFill>
              <a:srgbClr val="5555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1874520" y="6798286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502920" y="7818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Schema/config changes only — e.g. a new custom field built in Dev</a:t>
            </a:r>
            <a:endParaRPr lang="en-US" sz="700" dirty="0"/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F5629DBE-E7ED-3292-F6C9-7E42535EFD8D}"/>
              </a:ext>
            </a:extLst>
          </p:cNvPr>
          <p:cNvCxnSpPr>
            <a:cxnSpLocks/>
          </p:cNvCxnSpPr>
          <p:nvPr/>
        </p:nvCxnSpPr>
        <p:spPr>
          <a:xfrm flipV="1">
            <a:off x="1454294" y="840653"/>
            <a:ext cx="3574906" cy="1445347"/>
          </a:xfrm>
          <a:prstGeom prst="bentConnector3">
            <a:avLst>
              <a:gd name="adj1" fmla="val 234"/>
            </a:avLst>
          </a:prstGeom>
          <a:noFill/>
          <a:ln w="22225">
            <a:solidFill>
              <a:srgbClr val="555555"/>
            </a:solidFill>
            <a:prstDash val="solid"/>
            <a:headEnd type="triangle"/>
            <a:tailEnd type="triangle"/>
          </a:ln>
        </p:spPr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34C3A94A-E3B8-C3D3-A498-4958915BECA9}"/>
              </a:ext>
            </a:extLst>
          </p:cNvPr>
          <p:cNvCxnSpPr>
            <a:cxnSpLocks/>
            <a:stCxn id="9" idx="0"/>
            <a:endCxn id="3" idx="2"/>
          </p:cNvCxnSpPr>
          <p:nvPr/>
        </p:nvCxnSpPr>
        <p:spPr>
          <a:xfrm rot="5400000" flipH="1" flipV="1">
            <a:off x="3673284" y="1241616"/>
            <a:ext cx="1120140" cy="968629"/>
          </a:xfrm>
          <a:prstGeom prst="bentConnector2">
            <a:avLst/>
          </a:prstGeom>
          <a:noFill/>
          <a:ln w="22225">
            <a:solidFill>
              <a:srgbClr val="555555"/>
            </a:solidFill>
            <a:prstDash val="solid"/>
            <a:headEnd type="triangle"/>
            <a:tailEnd type="triangle"/>
          </a:ln>
        </p:spPr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96EAEEA0-4056-3369-9A4E-8069A5525EDF}"/>
              </a:ext>
            </a:extLst>
          </p:cNvPr>
          <p:cNvCxnSpPr>
            <a:cxnSpLocks/>
            <a:stCxn id="15" idx="0"/>
            <a:endCxn id="3" idx="0"/>
          </p:cNvCxnSpPr>
          <p:nvPr/>
        </p:nvCxnSpPr>
        <p:spPr>
          <a:xfrm rot="16200000" flipV="1">
            <a:off x="7371207" y="1244727"/>
            <a:ext cx="1120140" cy="962406"/>
          </a:xfrm>
          <a:prstGeom prst="bentConnector2">
            <a:avLst/>
          </a:prstGeom>
          <a:noFill/>
          <a:ln w="22225">
            <a:solidFill>
              <a:srgbClr val="555555"/>
            </a:solidFill>
            <a:prstDash val="solid"/>
            <a:headEnd type="triangle"/>
            <a:tailEnd type="triangle"/>
          </a:ln>
        </p:spPr>
      </p:cxnSp>
      <p:sp>
        <p:nvSpPr>
          <p:cNvPr id="85" name="Text 20">
            <a:extLst>
              <a:ext uri="{FF2B5EF4-FFF2-40B4-BE49-F238E27FC236}">
                <a16:creationId xmlns:a16="http://schemas.microsoft.com/office/drawing/2014/main" id="{EB6CA3A7-B7FA-C6B5-C668-0C8C044F1F25}"/>
              </a:ext>
            </a:extLst>
          </p:cNvPr>
          <p:cNvSpPr/>
          <p:nvPr/>
        </p:nvSpPr>
        <p:spPr>
          <a:xfrm>
            <a:off x="619407" y="938034"/>
            <a:ext cx="83488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Claude for a unique ticket</a:t>
            </a:r>
            <a:endParaRPr lang="en-US" sz="700" dirty="0"/>
          </a:p>
        </p:txBody>
      </p:sp>
      <p:sp>
        <p:nvSpPr>
          <p:cNvPr id="87" name="Text 20">
            <a:extLst>
              <a:ext uri="{FF2B5EF4-FFF2-40B4-BE49-F238E27FC236}">
                <a16:creationId xmlns:a16="http://schemas.microsoft.com/office/drawing/2014/main" id="{5B1040D1-B944-77C7-4F76-CA056505FF8A}"/>
              </a:ext>
            </a:extLst>
          </p:cNvPr>
          <p:cNvSpPr/>
          <p:nvPr/>
        </p:nvSpPr>
        <p:spPr>
          <a:xfrm>
            <a:off x="1413865" y="1543367"/>
            <a:ext cx="946206" cy="487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unique ticket w/ subject/description</a:t>
            </a:r>
            <a:endParaRPr lang="en-US" sz="700" dirty="0"/>
          </a:p>
        </p:txBody>
      </p:sp>
      <p:sp>
        <p:nvSpPr>
          <p:cNvPr id="89" name="Text 20">
            <a:extLst>
              <a:ext uri="{FF2B5EF4-FFF2-40B4-BE49-F238E27FC236}">
                <a16:creationId xmlns:a16="http://schemas.microsoft.com/office/drawing/2014/main" id="{42416D2E-9F71-BD08-7FD7-43FFEDA36576}"/>
              </a:ext>
            </a:extLst>
          </p:cNvPr>
          <p:cNvSpPr/>
          <p:nvPr/>
        </p:nvSpPr>
        <p:spPr>
          <a:xfrm>
            <a:off x="2932441" y="1174090"/>
            <a:ext cx="83488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for urgency classification</a:t>
            </a:r>
            <a:endParaRPr lang="en-US" sz="700" dirty="0"/>
          </a:p>
        </p:txBody>
      </p:sp>
      <p:sp>
        <p:nvSpPr>
          <p:cNvPr id="91" name="Text 20">
            <a:extLst>
              <a:ext uri="{FF2B5EF4-FFF2-40B4-BE49-F238E27FC236}">
                <a16:creationId xmlns:a16="http://schemas.microsoft.com/office/drawing/2014/main" id="{28DED3BF-526A-99A6-0466-6AA157F4EA5A}"/>
              </a:ext>
            </a:extLst>
          </p:cNvPr>
          <p:cNvSpPr/>
          <p:nvPr/>
        </p:nvSpPr>
        <p:spPr>
          <a:xfrm>
            <a:off x="3723655" y="1668092"/>
            <a:ext cx="673974" cy="487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urgency, category, &amp; confidence </a:t>
            </a:r>
            <a:endParaRPr lang="en-US" sz="700" dirty="0"/>
          </a:p>
        </p:txBody>
      </p:sp>
      <p:sp>
        <p:nvSpPr>
          <p:cNvPr id="93" name="Text 20">
            <a:extLst>
              <a:ext uri="{FF2B5EF4-FFF2-40B4-BE49-F238E27FC236}">
                <a16:creationId xmlns:a16="http://schemas.microsoft.com/office/drawing/2014/main" id="{5BC3D8B2-21DA-8410-D5F9-71012D601502}"/>
              </a:ext>
            </a:extLst>
          </p:cNvPr>
          <p:cNvSpPr/>
          <p:nvPr/>
        </p:nvSpPr>
        <p:spPr>
          <a:xfrm>
            <a:off x="5340355" y="1754734"/>
            <a:ext cx="83488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for hypothesis</a:t>
            </a:r>
            <a:endParaRPr lang="en-US" sz="700" dirty="0"/>
          </a:p>
        </p:txBody>
      </p:sp>
      <p:sp>
        <p:nvSpPr>
          <p:cNvPr id="95" name="Text 20">
            <a:extLst>
              <a:ext uri="{FF2B5EF4-FFF2-40B4-BE49-F238E27FC236}">
                <a16:creationId xmlns:a16="http://schemas.microsoft.com/office/drawing/2014/main" id="{7F53B3D3-D1A1-19C8-2A9B-742D35A7503F}"/>
              </a:ext>
            </a:extLst>
          </p:cNvPr>
          <p:cNvSpPr/>
          <p:nvPr/>
        </p:nvSpPr>
        <p:spPr>
          <a:xfrm>
            <a:off x="5964174" y="1935427"/>
            <a:ext cx="83488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root cause</a:t>
            </a:r>
            <a:endParaRPr lang="en-US" sz="700" dirty="0"/>
          </a:p>
        </p:txBody>
      </p:sp>
      <p:sp>
        <p:nvSpPr>
          <p:cNvPr id="97" name="Text 20">
            <a:extLst>
              <a:ext uri="{FF2B5EF4-FFF2-40B4-BE49-F238E27FC236}">
                <a16:creationId xmlns:a16="http://schemas.microsoft.com/office/drawing/2014/main" id="{12B5D7B2-CAAE-3A82-76D8-5E831CE7D041}"/>
              </a:ext>
            </a:extLst>
          </p:cNvPr>
          <p:cNvSpPr/>
          <p:nvPr/>
        </p:nvSpPr>
        <p:spPr>
          <a:xfrm>
            <a:off x="7566660" y="1733086"/>
            <a:ext cx="83488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if ticket is safety critical</a:t>
            </a:r>
            <a:endParaRPr lang="en-US" sz="700" dirty="0"/>
          </a:p>
        </p:txBody>
      </p:sp>
      <p:sp>
        <p:nvSpPr>
          <p:cNvPr id="99" name="Text 20">
            <a:extLst>
              <a:ext uri="{FF2B5EF4-FFF2-40B4-BE49-F238E27FC236}">
                <a16:creationId xmlns:a16="http://schemas.microsoft.com/office/drawing/2014/main" id="{C474C21C-3976-C96D-074D-5A3E56EA53A4}"/>
              </a:ext>
            </a:extLst>
          </p:cNvPr>
          <p:cNvSpPr/>
          <p:nvPr/>
        </p:nvSpPr>
        <p:spPr>
          <a:xfrm>
            <a:off x="8401547" y="1250759"/>
            <a:ext cx="83488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yes/no plus reasoning</a:t>
            </a:r>
            <a:endParaRPr lang="en-US" sz="700" dirty="0"/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433E5687-8646-BB93-E938-944756B5DCEB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2135124" y="2802636"/>
            <a:ext cx="1655064" cy="3090672"/>
          </a:xfrm>
          <a:prstGeom prst="bentConnector2">
            <a:avLst/>
          </a:prstGeom>
          <a:noFill/>
          <a:ln w="22225">
            <a:solidFill>
              <a:srgbClr val="555555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04" name="Text 20">
            <a:extLst>
              <a:ext uri="{FF2B5EF4-FFF2-40B4-BE49-F238E27FC236}">
                <a16:creationId xmlns:a16="http://schemas.microsoft.com/office/drawing/2014/main" id="{17F53F9B-A506-CB58-57F5-FCB4C871F2C7}"/>
              </a:ext>
            </a:extLst>
          </p:cNvPr>
          <p:cNvSpPr/>
          <p:nvPr/>
        </p:nvSpPr>
        <p:spPr>
          <a:xfrm>
            <a:off x="619407" y="3782743"/>
            <a:ext cx="946206" cy="938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-Case Key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-Subject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-Description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</a:t>
            </a:r>
            <a:r>
              <a:rPr lang="en-US" sz="700" dirty="0" err="1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AssetID</a:t>
            </a:r>
            <a:endParaRPr lang="en-US" sz="700" dirty="0">
              <a:solidFill>
                <a:srgbClr val="333333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-Origin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-Status</a:t>
            </a:r>
            <a:endParaRPr lang="en-US" sz="700" dirty="0"/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BC9F2D00-2CAB-393B-AAA0-B5C2771A9294}"/>
              </a:ext>
            </a:extLst>
          </p:cNvPr>
          <p:cNvCxnSpPr>
            <a:cxnSpLocks/>
            <a:stCxn id="9" idx="2"/>
            <a:endCxn id="35" idx="2"/>
          </p:cNvCxnSpPr>
          <p:nvPr/>
        </p:nvCxnSpPr>
        <p:spPr>
          <a:xfrm rot="16200000" flipH="1">
            <a:off x="3440430" y="3829050"/>
            <a:ext cx="1348740" cy="731520"/>
          </a:xfrm>
          <a:prstGeom prst="bentConnector2">
            <a:avLst/>
          </a:prstGeom>
          <a:noFill/>
          <a:ln w="22225">
            <a:solidFill>
              <a:srgbClr val="555555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11" name="Text 20">
            <a:extLst>
              <a:ext uri="{FF2B5EF4-FFF2-40B4-BE49-F238E27FC236}">
                <a16:creationId xmlns:a16="http://schemas.microsoft.com/office/drawing/2014/main" id="{1DCA51F2-9477-25FA-8EEE-524B541F6026}"/>
              </a:ext>
            </a:extLst>
          </p:cNvPr>
          <p:cNvSpPr/>
          <p:nvPr/>
        </p:nvSpPr>
        <p:spPr>
          <a:xfrm>
            <a:off x="2972894" y="3676673"/>
            <a:ext cx="946206" cy="938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-AI Priority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-AI Category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-AI Confidence</a:t>
            </a:r>
            <a:endParaRPr lang="en-US" sz="700" dirty="0"/>
          </a:p>
        </p:txBody>
      </p:sp>
      <p:sp>
        <p:nvSpPr>
          <p:cNvPr id="113" name="Shape 21">
            <a:extLst>
              <a:ext uri="{FF2B5EF4-FFF2-40B4-BE49-F238E27FC236}">
                <a16:creationId xmlns:a16="http://schemas.microsoft.com/office/drawing/2014/main" id="{515D4FD0-FDF8-4572-D69D-4099606C53F8}"/>
              </a:ext>
            </a:extLst>
          </p:cNvPr>
          <p:cNvSpPr/>
          <p:nvPr/>
        </p:nvSpPr>
        <p:spPr>
          <a:xfrm>
            <a:off x="6175242" y="3502709"/>
            <a:ext cx="0" cy="749251"/>
          </a:xfrm>
          <a:prstGeom prst="line">
            <a:avLst/>
          </a:prstGeom>
          <a:noFill/>
          <a:ln w="22225">
            <a:solidFill>
              <a:srgbClr val="5555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20">
            <a:extLst>
              <a:ext uri="{FF2B5EF4-FFF2-40B4-BE49-F238E27FC236}">
                <a16:creationId xmlns:a16="http://schemas.microsoft.com/office/drawing/2014/main" id="{26009C16-A5F0-51C4-F88E-038B0F4E67F0}"/>
              </a:ext>
            </a:extLst>
          </p:cNvPr>
          <p:cNvSpPr/>
          <p:nvPr/>
        </p:nvSpPr>
        <p:spPr>
          <a:xfrm>
            <a:off x="4965192" y="3394123"/>
            <a:ext cx="1288114" cy="938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-AI Root Cause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-AI Root Cause Confidence</a:t>
            </a:r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C46940C2-D6E3-7B92-F19E-114D89229B3E}"/>
              </a:ext>
            </a:extLst>
          </p:cNvPr>
          <p:cNvCxnSpPr>
            <a:cxnSpLocks/>
            <a:stCxn id="17" idx="2"/>
            <a:endCxn id="36" idx="3"/>
          </p:cNvCxnSpPr>
          <p:nvPr/>
        </p:nvCxnSpPr>
        <p:spPr>
          <a:xfrm rot="5400000">
            <a:off x="7522998" y="3745153"/>
            <a:ext cx="1138885" cy="640080"/>
          </a:xfrm>
          <a:prstGeom prst="bentConnector2">
            <a:avLst/>
          </a:prstGeom>
          <a:noFill/>
          <a:ln w="22225">
            <a:solidFill>
              <a:srgbClr val="555555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20" name="Text 20">
            <a:extLst>
              <a:ext uri="{FF2B5EF4-FFF2-40B4-BE49-F238E27FC236}">
                <a16:creationId xmlns:a16="http://schemas.microsoft.com/office/drawing/2014/main" id="{8D25D8C9-BEB1-F417-8CD7-8889D3552786}"/>
              </a:ext>
            </a:extLst>
          </p:cNvPr>
          <p:cNvSpPr/>
          <p:nvPr/>
        </p:nvSpPr>
        <p:spPr>
          <a:xfrm>
            <a:off x="8326159" y="3459929"/>
            <a:ext cx="960267" cy="938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Appends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-Safety Flag reasoning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to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AI Reasoning Log</a:t>
            </a:r>
          </a:p>
        </p:txBody>
      </p: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9F192E23-4F03-812C-F7BC-8AB8B6FC2E35}"/>
              </a:ext>
            </a:extLst>
          </p:cNvPr>
          <p:cNvCxnSpPr>
            <a:cxnSpLocks/>
            <a:stCxn id="20" idx="2"/>
            <a:endCxn id="35" idx="4"/>
          </p:cNvCxnSpPr>
          <p:nvPr/>
        </p:nvCxnSpPr>
        <p:spPr>
          <a:xfrm rot="5400000">
            <a:off x="8571586" y="2696565"/>
            <a:ext cx="1373429" cy="2971800"/>
          </a:xfrm>
          <a:prstGeom prst="bentConnector2">
            <a:avLst/>
          </a:prstGeom>
          <a:noFill/>
          <a:ln w="22225">
            <a:solidFill>
              <a:srgbClr val="555555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25" name="Text 20">
            <a:extLst>
              <a:ext uri="{FF2B5EF4-FFF2-40B4-BE49-F238E27FC236}">
                <a16:creationId xmlns:a16="http://schemas.microsoft.com/office/drawing/2014/main" id="{DB7A643D-5827-5E9C-D5C2-52970EF85D67}"/>
              </a:ext>
            </a:extLst>
          </p:cNvPr>
          <p:cNvSpPr/>
          <p:nvPr/>
        </p:nvSpPr>
        <p:spPr>
          <a:xfrm>
            <a:off x="6032058" y="3455844"/>
            <a:ext cx="1288114" cy="938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Appends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-Root cause reasoning summary to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AI Reasoning Log</a:t>
            </a:r>
          </a:p>
        </p:txBody>
      </p: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4B652B79-9371-27B7-B8E0-5C6C973CB184}"/>
              </a:ext>
            </a:extLst>
          </p:cNvPr>
          <p:cNvCxnSpPr>
            <a:cxnSpLocks/>
            <a:stCxn id="18" idx="0"/>
          </p:cNvCxnSpPr>
          <p:nvPr/>
        </p:nvCxnSpPr>
        <p:spPr>
          <a:xfrm rot="16200000" flipV="1">
            <a:off x="8372897" y="-85303"/>
            <a:ext cx="1363142" cy="3379464"/>
          </a:xfrm>
          <a:prstGeom prst="bentConnector2">
            <a:avLst/>
          </a:prstGeom>
          <a:noFill/>
          <a:ln w="22225">
            <a:solidFill>
              <a:srgbClr val="555555"/>
            </a:solidFill>
            <a:prstDash val="solid"/>
            <a:headEnd type="triangle"/>
            <a:tailEnd type="triangle"/>
          </a:ln>
        </p:spPr>
      </p:cxnSp>
      <p:sp>
        <p:nvSpPr>
          <p:cNvPr id="130" name="Text 20">
            <a:extLst>
              <a:ext uri="{FF2B5EF4-FFF2-40B4-BE49-F238E27FC236}">
                <a16:creationId xmlns:a16="http://schemas.microsoft.com/office/drawing/2014/main" id="{A8D66B90-AFC8-D1CB-13B7-E347ACC21E13}"/>
              </a:ext>
            </a:extLst>
          </p:cNvPr>
          <p:cNvSpPr/>
          <p:nvPr/>
        </p:nvSpPr>
        <p:spPr>
          <a:xfrm>
            <a:off x="9968550" y="1707045"/>
            <a:ext cx="83488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for concise human readable summary</a:t>
            </a:r>
            <a:endParaRPr lang="en-US" sz="700" dirty="0"/>
          </a:p>
        </p:txBody>
      </p:sp>
      <p:sp>
        <p:nvSpPr>
          <p:cNvPr id="132" name="Text 20">
            <a:extLst>
              <a:ext uri="{FF2B5EF4-FFF2-40B4-BE49-F238E27FC236}">
                <a16:creationId xmlns:a16="http://schemas.microsoft.com/office/drawing/2014/main" id="{C607A688-6F7C-D38F-0745-8009CA748050}"/>
              </a:ext>
            </a:extLst>
          </p:cNvPr>
          <p:cNvSpPr/>
          <p:nvPr/>
        </p:nvSpPr>
        <p:spPr>
          <a:xfrm>
            <a:off x="10744201" y="1164782"/>
            <a:ext cx="96240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short overall summary of ticket.  </a:t>
            </a:r>
            <a:endParaRPr lang="en-US" sz="700" dirty="0"/>
          </a:p>
        </p:txBody>
      </p:sp>
      <p:sp>
        <p:nvSpPr>
          <p:cNvPr id="134" name="Text 20">
            <a:extLst>
              <a:ext uri="{FF2B5EF4-FFF2-40B4-BE49-F238E27FC236}">
                <a16:creationId xmlns:a16="http://schemas.microsoft.com/office/drawing/2014/main" id="{3C993EDF-C208-208E-017F-BF00B56921A8}"/>
              </a:ext>
            </a:extLst>
          </p:cNvPr>
          <p:cNvSpPr/>
          <p:nvPr/>
        </p:nvSpPr>
        <p:spPr>
          <a:xfrm>
            <a:off x="7554335" y="3602458"/>
            <a:ext cx="960267" cy="457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-Safety Flag</a:t>
            </a:r>
          </a:p>
        </p:txBody>
      </p:sp>
      <p:sp>
        <p:nvSpPr>
          <p:cNvPr id="136" name="Text 20">
            <a:extLst>
              <a:ext uri="{FF2B5EF4-FFF2-40B4-BE49-F238E27FC236}">
                <a16:creationId xmlns:a16="http://schemas.microsoft.com/office/drawing/2014/main" id="{4F60CD3A-718A-0F88-5C19-C49082B0E969}"/>
              </a:ext>
            </a:extLst>
          </p:cNvPr>
          <p:cNvSpPr/>
          <p:nvPr/>
        </p:nvSpPr>
        <p:spPr>
          <a:xfrm>
            <a:off x="10720994" y="3586604"/>
            <a:ext cx="960267" cy="938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Appends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-Overall summary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-Dispatch reasoning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to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cs typeface="Arial" pitchFamily="34" charset="-120"/>
              </a:rPr>
              <a:t>AI Reasoning 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301</Words>
  <Application>Microsoft Office PowerPoint</Application>
  <PresentationFormat>Custom</PresentationFormat>
  <Paragraphs>105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Larry spegele</cp:lastModifiedBy>
  <cp:revision>4</cp:revision>
  <dcterms:created xsi:type="dcterms:W3CDTF">2026-09-10T20:45:56Z</dcterms:created>
  <dcterms:modified xsi:type="dcterms:W3CDTF">2026-09-11T03:11:46Z</dcterms:modified>
</cp:coreProperties>
</file>